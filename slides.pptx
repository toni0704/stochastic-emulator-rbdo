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4" r:id="rId4"/>
    <p:sldId id="265" r:id="rId5"/>
    <p:sldId id="267" r:id="rId6"/>
    <p:sldId id="266" r:id="rId7"/>
    <p:sldId id="263" r:id="rId8"/>
    <p:sldId id="271" r:id="rId9"/>
    <p:sldId id="268" r:id="rId10"/>
    <p:sldId id="270" r:id="rId11"/>
    <p:sldId id="273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703"/>
  </p:normalViewPr>
  <p:slideViewPr>
    <p:cSldViewPr snapToGrid="0">
      <p:cViewPr>
        <p:scale>
          <a:sx n="103" d="100"/>
          <a:sy n="103" d="100"/>
        </p:scale>
        <p:origin x="113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76C0-D2D9-23DE-F90C-7CD942E82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64F40-C654-218D-E828-1305282C4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DC53-8CDF-AB3B-18AE-D0358EFA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845A3-1DA3-922C-A1E2-BFE6588F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C214C-2378-A9EE-E9F0-9A61CD0F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6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7A0D-AC4E-7741-8535-47E0DB37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E91A-BFF3-0FFD-681F-6A59FED1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27B79-57BA-B07D-C477-336BF7F8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5D530-2F64-4855-B33B-BC6CD3ED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E94FF-E8F1-AB46-8BAE-9CDA0E2F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0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01B9-004A-2E9C-3861-5C81C07E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D78E1-0838-3BEE-9099-738DF55D8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20401-0350-75D4-D591-4B06FF46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DABF5-9A5B-304E-CB45-C613E073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CC932-9F7A-5E24-7B63-9938E0B9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0FD54-4E72-4CB4-EB34-DE056C9D6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4DB0-5963-A781-318E-F432F1EED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13E80-205B-F02F-577E-2F0A733F4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19687-8FB8-6A9B-2D71-CE9C1C23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28614-1692-54A9-8E63-00DD096E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39FB6-AE70-5FF1-CCC9-5003E61A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9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6817-00F7-0B4E-4613-565B95B8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4A4FC-D63B-19DD-F533-515C065FE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C5B44-9774-6162-1CF2-457032140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8A4B3-DFB5-026E-1160-FD9882C64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BF4EB-08DF-A778-1235-83EFB8601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65020-E9C8-5DAB-2387-1A65F4AA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E5E68-86A0-3651-8AA3-F0225888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3AB26-1EE2-90FF-A269-B93F8F9C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4219-F5ED-EDB4-6C16-7457320A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FD60F-A59F-CA46-A0EB-CEBAC0C1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345B7-2D10-1599-39D7-92C355EA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ACFDB-672A-AE67-F3DC-84BB6607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3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52BA8-33F2-3B6B-DF52-3D8278C9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B8019-4AC9-C948-7A5A-8D6B10CC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840ED-F0EB-5363-6640-B4140348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0DE0-0CCA-EB45-D1E7-EE1C5598C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92D3-AAB6-D325-354A-CB90C2A7D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EFCD8-F762-9D11-424E-C16BA7E65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9B609-3C9F-72DC-583E-5C15B17A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E8EDA-9321-060E-280D-ACEC3662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66435-08DA-3E26-41A9-1E95912C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2619-0FBA-D9C1-F3B4-D300F728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E554A-5AEB-F285-03FE-44B6DEF44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A66DE-37AD-04A7-81D6-49634A891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03E88-0BAD-BB97-F7FF-F046ED1E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21A2F-35E9-A2CF-F27D-DC6BBADB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D3622-1AA7-ADC1-0718-8E1E366C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7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A4B3-1F59-2E05-E892-282C8791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7326F-E54F-658F-F5FA-49FE68EF8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80C8D-AE9E-3FC7-1A9D-8E466F23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D81E7-2C9C-F751-7300-D8DC491B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0AFAF-AD00-53D0-D5A3-D5ADC8B6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1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8A8CE-C36F-B73A-D18B-3CF541C41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5804-833D-FB0C-E8C9-955207F37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5CB21-513D-9834-D960-1EE2B897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A407A-8184-99D5-348A-9834AE21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62064-8EB4-6941-2EDF-A684BB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9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C0159-3340-4D9A-0DD3-638DDD1F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60A36-F79D-F454-BF61-58084157F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14054-DB90-AD5E-5454-245C42AB9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80ACA-F148-554E-BD09-7752D766B23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CAE26-116D-D55B-CB10-D4140E157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4765D-8EAE-9837-4C9C-97B440DB5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EF83D-8592-4F43-8D7B-72271C741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1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2D48-B284-1141-2892-0A2CBBFDA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2972"/>
            <a:ext cx="9144000" cy="1799741"/>
          </a:xfrm>
        </p:spPr>
        <p:txBody>
          <a:bodyPr>
            <a:normAutofit/>
          </a:bodyPr>
          <a:lstStyle/>
          <a:p>
            <a:r>
              <a:rPr lang="en-IN" sz="5400" dirty="0"/>
              <a:t>Emulating Stochastic Processes for Efficient RBDO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7BEF7-4ED3-577A-4F2C-BF50E3E28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3299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APL871: Product Reliability</a:t>
            </a:r>
          </a:p>
          <a:p>
            <a:r>
              <a:rPr lang="en-IN" b="1" dirty="0"/>
              <a:t>Term Project </a:t>
            </a:r>
            <a:endParaRPr lang="en-IN" dirty="0"/>
          </a:p>
          <a:p>
            <a:r>
              <a:rPr lang="en-IN" dirty="0"/>
              <a:t>Rishabh Jain (2022AM11793)</a:t>
            </a:r>
          </a:p>
          <a:p>
            <a:r>
              <a:rPr lang="en-IN" dirty="0"/>
              <a:t>Karan Noor Singh (2022AM11220)</a:t>
            </a:r>
          </a:p>
          <a:p>
            <a:r>
              <a:rPr lang="en-IN" b="1" dirty="0"/>
              <a:t>Advisor</a:t>
            </a:r>
            <a:endParaRPr lang="en-IN" dirty="0"/>
          </a:p>
          <a:p>
            <a:r>
              <a:rPr lang="en-IN" dirty="0"/>
              <a:t>Prof. </a:t>
            </a:r>
            <a:r>
              <a:rPr lang="en-IN" dirty="0" err="1"/>
              <a:t>Souvik</a:t>
            </a:r>
            <a:r>
              <a:rPr lang="en-IN" dirty="0"/>
              <a:t> Chakraborty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08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6D5BA-F88A-8A6A-D95B-59EC6D37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RBDO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E1C89B-98BF-2849-1A08-C821B5756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631875"/>
            <a:ext cx="10905066" cy="24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1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1BDE6-B5F5-165C-8F25-6826ED1E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B9C965-5EC8-42E7-E510-55F378FDA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FA281-13E9-0630-09D1-5AA4400A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D97F1EA-4DF3-4597-6318-15EFF597B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effectLst/>
                <a:latin typeface="Google Sans Text"/>
              </a:rPr>
              <a:t>- RBDO creates a "nested loop" problem:</a:t>
            </a:r>
          </a:p>
          <a:p>
            <a:pPr lvl="1"/>
            <a:r>
              <a:rPr lang="en-IN" b="1" dirty="0">
                <a:effectLst/>
                <a:latin typeface="Google Sans Text"/>
              </a:rPr>
              <a:t>Outer Loop:</a:t>
            </a:r>
            <a:r>
              <a:rPr lang="en-IN" dirty="0">
                <a:effectLst/>
                <a:latin typeface="Google Sans Text"/>
              </a:rPr>
              <a:t> Optimization of design variables (d).</a:t>
            </a:r>
          </a:p>
          <a:p>
            <a:pPr lvl="1"/>
            <a:r>
              <a:rPr lang="en-IN" b="1" dirty="0">
                <a:effectLst/>
                <a:latin typeface="Google Sans Text"/>
              </a:rPr>
              <a:t>Inner Loop:</a:t>
            </a:r>
            <a:r>
              <a:rPr lang="en-IN" dirty="0">
                <a:effectLst/>
                <a:latin typeface="Google Sans Text"/>
              </a:rPr>
              <a:t> Reliability analysis (calculating </a:t>
            </a:r>
            <a:r>
              <a:rPr lang="en-IN" dirty="0" err="1">
                <a:effectLst/>
                <a:latin typeface="Google Sans Text"/>
              </a:rPr>
              <a:t>P</a:t>
            </a:r>
            <a:r>
              <a:rPr lang="en-IN" baseline="-25000" dirty="0" err="1">
                <a:effectLst/>
                <a:latin typeface="Google Sans Text"/>
              </a:rPr>
              <a:t>f</a:t>
            </a:r>
            <a:r>
              <a:rPr lang="en-IN" dirty="0">
                <a:effectLst/>
                <a:latin typeface="Google Sans Text"/>
              </a:rPr>
              <a:t>), which is computationally expensive.</a:t>
            </a:r>
          </a:p>
          <a:p>
            <a:pPr>
              <a:buFontTx/>
              <a:buChar char="-"/>
            </a:pPr>
            <a:r>
              <a:rPr lang="en-IN" sz="2400" i="1" dirty="0"/>
              <a:t>Deterministic</a:t>
            </a:r>
            <a:r>
              <a:rPr lang="en-IN" sz="2400" dirty="0"/>
              <a:t> performance functions</a:t>
            </a:r>
          </a:p>
          <a:p>
            <a:pPr>
              <a:buFontTx/>
              <a:buChar char="-"/>
            </a:pPr>
            <a:r>
              <a:rPr lang="en-IN" sz="2400" dirty="0"/>
              <a:t>Lack of frameworks handling </a:t>
            </a:r>
            <a:r>
              <a:rPr lang="en-IN" sz="2400" b="1" dirty="0"/>
              <a:t>stochastic simulators</a:t>
            </a:r>
            <a:r>
              <a:rPr lang="en-IN" sz="2400" dirty="0"/>
              <a:t> (where the limit state itself contains intrinsic randomness/noise) within an RBDO context.</a:t>
            </a:r>
            <a:endParaRPr lang="en-IN" sz="2400" dirty="0">
              <a:effectLst/>
              <a:latin typeface="Google Sans Tex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7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EC867-3446-E061-EA94-DAD5F89C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D794B-9A71-9197-A8BD-6871A8ED0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65F87-DD8A-2460-E1EE-8A6E45B9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Proposal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1CBCF5-B6BE-FCDB-6997-1795BE4E5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dirty="0"/>
              <a:t>Replace the expensive inner reliability loop with a fast </a:t>
            </a:r>
            <a:r>
              <a:rPr lang="en-IN" b="1" dirty="0"/>
              <a:t>Stochastic Emulator</a:t>
            </a:r>
            <a:r>
              <a:rPr lang="en-IN" dirty="0"/>
              <a:t>.</a:t>
            </a:r>
          </a:p>
          <a:p>
            <a:r>
              <a:rPr lang="en-IN" dirty="0"/>
              <a:t>We propose using </a:t>
            </a:r>
            <a:r>
              <a:rPr lang="en-IN" b="1" dirty="0"/>
              <a:t>Generalized Lambda Models (</a:t>
            </a:r>
            <a:r>
              <a:rPr lang="en-IN" b="1" dirty="0" err="1"/>
              <a:t>GLaM</a:t>
            </a:r>
            <a:r>
              <a:rPr lang="en-IN" b="1" dirty="0"/>
              <a:t>)</a:t>
            </a:r>
            <a:r>
              <a:rPr lang="en-IN" dirty="0"/>
              <a:t> to act as a "probabilistic oracle," predicting the full conditional distribution of the response without needing replicated simulations.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sz="1800" dirty="0">
                <a:effectLst/>
                <a:latin typeface="NimbusRomNo9L"/>
              </a:rPr>
              <a:t>The four parameters govern the distribution’s characteristics: </a:t>
            </a:r>
            <a:r>
              <a:rPr lang="el-GR" sz="1800" dirty="0">
                <a:effectLst/>
                <a:latin typeface="CMMI12"/>
              </a:rPr>
              <a:t>λ</a:t>
            </a:r>
            <a:r>
              <a:rPr lang="el-GR" sz="1800" dirty="0">
                <a:effectLst/>
                <a:latin typeface="CMR8"/>
              </a:rPr>
              <a:t>1 </a:t>
            </a:r>
            <a:r>
              <a:rPr lang="en-IN" sz="1800" dirty="0">
                <a:effectLst/>
                <a:latin typeface="NimbusRomNo9L"/>
              </a:rPr>
              <a:t>is a location parameter, </a:t>
            </a:r>
            <a:r>
              <a:rPr lang="el-GR" sz="1800" dirty="0">
                <a:effectLst/>
                <a:latin typeface="CMMI12"/>
              </a:rPr>
              <a:t>λ</a:t>
            </a:r>
            <a:r>
              <a:rPr lang="el-GR" sz="1800" dirty="0">
                <a:effectLst/>
                <a:latin typeface="CMR8"/>
              </a:rPr>
              <a:t>2 </a:t>
            </a:r>
            <a:r>
              <a:rPr lang="el-GR" sz="1800" dirty="0">
                <a:effectLst/>
                <a:latin typeface="CMMI12"/>
              </a:rPr>
              <a:t>&gt; </a:t>
            </a:r>
            <a:r>
              <a:rPr lang="el-GR" sz="1800" dirty="0">
                <a:effectLst/>
                <a:latin typeface="CMR12"/>
              </a:rPr>
              <a:t>0 </a:t>
            </a:r>
            <a:r>
              <a:rPr lang="en-IN" sz="1800" dirty="0">
                <a:effectLst/>
                <a:latin typeface="NimbusRomNo9L"/>
              </a:rPr>
              <a:t>is a scale parameter, and </a:t>
            </a:r>
            <a:r>
              <a:rPr lang="el-GR" sz="1800" dirty="0">
                <a:effectLst/>
                <a:latin typeface="CMMI12"/>
              </a:rPr>
              <a:t>λ</a:t>
            </a:r>
            <a:r>
              <a:rPr lang="el-GR" sz="1800" dirty="0">
                <a:effectLst/>
                <a:latin typeface="CMR8"/>
              </a:rPr>
              <a:t>3 </a:t>
            </a:r>
            <a:r>
              <a:rPr lang="en-IN" sz="1800" dirty="0">
                <a:effectLst/>
                <a:latin typeface="NimbusRomNo9L"/>
              </a:rPr>
              <a:t>and </a:t>
            </a:r>
            <a:r>
              <a:rPr lang="el-GR" sz="1800" dirty="0">
                <a:effectLst/>
                <a:latin typeface="CMMI12"/>
              </a:rPr>
              <a:t>λ</a:t>
            </a:r>
            <a:r>
              <a:rPr lang="el-GR" sz="1800" dirty="0">
                <a:effectLst/>
                <a:latin typeface="CMR8"/>
              </a:rPr>
              <a:t>4 </a:t>
            </a:r>
            <a:r>
              <a:rPr lang="en-IN" sz="1800" dirty="0">
                <a:effectLst/>
                <a:latin typeface="NimbusRomNo9L"/>
              </a:rPr>
              <a:t>are shape parameters that control the skewness and kurtosis of the distribution </a:t>
            </a:r>
            <a:endParaRPr lang="en-IN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DFD1F-307B-EC47-9F41-52BCF9CF1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269" y="4102614"/>
            <a:ext cx="5561461" cy="116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4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B3AE1-4007-296C-3E8E-3C43D05F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682620-3BE7-1C41-700E-5EA6DED01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0E55D-5E28-00E7-2D09-51212147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Workflow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6DF96F-FE87-A3DB-C5B0-F85613737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sz="2400" b="1" dirty="0"/>
              <a:t>Validation:</a:t>
            </a:r>
            <a:r>
              <a:rPr lang="en-IN" sz="2400" dirty="0"/>
              <a:t> Implement </a:t>
            </a:r>
            <a:r>
              <a:rPr lang="en-IN" sz="2400" dirty="0" err="1"/>
              <a:t>GLaM</a:t>
            </a:r>
            <a:r>
              <a:rPr lang="en-IN" sz="2400" dirty="0"/>
              <a:t> and validate against the </a:t>
            </a:r>
            <a:r>
              <a:rPr lang="en-IN" sz="2400" i="1" dirty="0"/>
              <a:t>Black-Scholes</a:t>
            </a:r>
            <a:r>
              <a:rPr lang="en-IN" sz="2400" dirty="0"/>
              <a:t> model (analytical benchmark).</a:t>
            </a:r>
          </a:p>
          <a:p>
            <a:pPr marL="457200" indent="-457200">
              <a:buAutoNum type="arabicPeriod"/>
            </a:pPr>
            <a:endParaRPr lang="en-IN" sz="2400" dirty="0"/>
          </a:p>
          <a:p>
            <a:pPr marL="457200" indent="-457200">
              <a:buAutoNum type="arabicPeriod"/>
            </a:pPr>
            <a:r>
              <a:rPr lang="en-IN" sz="2400" b="1" dirty="0"/>
              <a:t>Structural Application:</a:t>
            </a:r>
            <a:r>
              <a:rPr lang="en-IN" sz="2400" dirty="0"/>
              <a:t> Develop a stochastic simulator for a </a:t>
            </a:r>
            <a:r>
              <a:rPr lang="en-IN" sz="2400" i="1" dirty="0"/>
              <a:t>Simply Supported I-Beam </a:t>
            </a:r>
            <a:r>
              <a:rPr lang="en-IN" sz="2400" dirty="0"/>
              <a:t>subject to random loads and model uncertainty.</a:t>
            </a:r>
          </a:p>
          <a:p>
            <a:pPr marL="457200" indent="-457200">
              <a:buAutoNum type="arabicPeriod"/>
            </a:pPr>
            <a:endParaRPr lang="en-IN" sz="1600" dirty="0"/>
          </a:p>
          <a:p>
            <a:pPr marL="457200" indent="-457200">
              <a:buAutoNum type="arabicPeriod"/>
            </a:pPr>
            <a:endParaRPr lang="en-IN" sz="1600" dirty="0"/>
          </a:p>
          <a:p>
            <a:pPr marL="457200" indent="-457200">
              <a:buAutoNum type="arabicPeriod"/>
            </a:pPr>
            <a:endParaRPr lang="en-IN" sz="1600" dirty="0"/>
          </a:p>
          <a:p>
            <a:pPr marL="457200" indent="-457200">
              <a:buAutoNum type="arabicPeriod"/>
            </a:pPr>
            <a:r>
              <a:rPr lang="en-IN" sz="2400" b="1" dirty="0"/>
              <a:t>Integration:</a:t>
            </a:r>
            <a:r>
              <a:rPr lang="en-IN" sz="2400" dirty="0"/>
              <a:t> Integrate the trained emulator into a gradient-based optimization loop to solve the RBDO problem efficiently.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A75A42-FE29-3E93-6CAC-F94DF27E8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173" y="3863557"/>
            <a:ext cx="3705654" cy="83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1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09ADF-006D-D1D8-BF87-C9EA07E1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B49E8E-4CF0-A048-A6BF-E8F787B01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DF8D4-13AA-8470-C879-0EFCF9FC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1: Emulator Implementation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3D6E64-6B64-5F35-5969-398D10F46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>
                <a:effectLst/>
                <a:latin typeface="Google Sans Text"/>
              </a:rPr>
              <a:t>Objective:</a:t>
            </a:r>
            <a:r>
              <a:rPr lang="en-IN" dirty="0"/>
              <a:t> Build a surrogate that approximates the conditional probability distribution </a:t>
            </a:r>
            <a:r>
              <a:rPr lang="en-IN" dirty="0">
                <a:effectLst/>
                <a:latin typeface="Google Sans Text"/>
              </a:rPr>
              <a:t>P(Y|X)</a:t>
            </a:r>
            <a:r>
              <a:rPr lang="en-IN" dirty="0"/>
              <a:t> of a stochastic simulator.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sz="1800" dirty="0">
                <a:effectLst/>
                <a:latin typeface="NimbusRomNo9L"/>
              </a:rPr>
              <a:t>where </a:t>
            </a:r>
            <a:r>
              <a:rPr lang="el-GR" sz="1800" dirty="0" err="1">
                <a:effectLst/>
                <a:latin typeface="CMR12"/>
              </a:rPr>
              <a:t>Ψ</a:t>
            </a:r>
            <a:r>
              <a:rPr lang="el-GR" sz="1800" dirty="0" err="1">
                <a:effectLst/>
                <a:latin typeface="CMMIB8"/>
              </a:rPr>
              <a:t>α</a:t>
            </a:r>
            <a:r>
              <a:rPr lang="el-GR" sz="1800" dirty="0">
                <a:effectLst/>
                <a:latin typeface="CMR12"/>
              </a:rPr>
              <a:t>(</a:t>
            </a:r>
            <a:r>
              <a:rPr lang="en-IN" sz="1800" dirty="0">
                <a:effectLst/>
                <a:latin typeface="CMBX12"/>
              </a:rPr>
              <a:t>x</a:t>
            </a:r>
            <a:r>
              <a:rPr lang="en-IN" sz="1800" dirty="0">
                <a:effectLst/>
                <a:latin typeface="CMR12"/>
              </a:rPr>
              <a:t>) </a:t>
            </a:r>
            <a:r>
              <a:rPr lang="en-IN" sz="1800" dirty="0">
                <a:effectLst/>
                <a:latin typeface="NimbusRomNo9L"/>
              </a:rPr>
              <a:t>are multivariate orthogonal polynomials, </a:t>
            </a:r>
            <a:r>
              <a:rPr lang="en-IN" sz="1800" dirty="0">
                <a:effectLst/>
                <a:latin typeface="CMMI12"/>
              </a:rPr>
              <a:t>c</a:t>
            </a:r>
            <a:r>
              <a:rPr lang="en-IN" sz="1800" dirty="0">
                <a:effectLst/>
                <a:latin typeface="CMMI8"/>
              </a:rPr>
              <a:t>l,</a:t>
            </a:r>
            <a:r>
              <a:rPr lang="el-GR" sz="1800" dirty="0">
                <a:effectLst/>
                <a:latin typeface="CMMIB8"/>
              </a:rPr>
              <a:t>α </a:t>
            </a:r>
            <a:r>
              <a:rPr lang="en-IN" sz="1800" dirty="0">
                <a:effectLst/>
                <a:latin typeface="NimbusRomNo9L"/>
              </a:rPr>
              <a:t>are the unknown coefficients, and </a:t>
            </a:r>
            <a:r>
              <a:rPr lang="en-IN" sz="1800" dirty="0">
                <a:effectLst/>
                <a:latin typeface="CMSY10"/>
              </a:rPr>
              <a:t>A</a:t>
            </a:r>
            <a:r>
              <a:rPr lang="en-IN" sz="1800" dirty="0">
                <a:effectLst/>
                <a:latin typeface="CMMI8"/>
              </a:rPr>
              <a:t>l </a:t>
            </a:r>
            <a:r>
              <a:rPr lang="en-IN" sz="1800" dirty="0">
                <a:effectLst/>
                <a:latin typeface="NimbusRomNo9L"/>
              </a:rPr>
              <a:t>is a set of multi-indices defining the basis </a:t>
            </a:r>
            <a:endParaRPr lang="en-IN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61A15B-64AC-C7F1-B03C-E01B21280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269" y="2848318"/>
            <a:ext cx="5561461" cy="1161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F1F574-D417-414E-9270-4F563EAD6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99" y="4144619"/>
            <a:ext cx="29972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0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D0192-C7C1-9890-236F-F72E22769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1: Validation (Black-Scholes Model)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5A7556-3AFB-7D28-27CA-791E3858F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488" y="1675227"/>
            <a:ext cx="1052502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9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EE778-43D4-73AE-4CC3-FBB5ED6A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8D4860-1167-DD6E-448D-D5BF5171A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815A7-BD5D-0ECA-AE66-6C3E1DB3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2: Engineering Application (I-Beam)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C95BB7-9962-DBF0-82D9-EF116F19E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Objective:</a:t>
            </a:r>
            <a:r>
              <a:rPr lang="en-IN" dirty="0"/>
              <a:t> To replace a structural reliability analysis with the </a:t>
            </a:r>
            <a:r>
              <a:rPr lang="en-IN" dirty="0" err="1"/>
              <a:t>GLaM</a:t>
            </a:r>
            <a:r>
              <a:rPr lang="en-IN" dirty="0"/>
              <a:t> emulator.</a:t>
            </a:r>
          </a:p>
          <a:p>
            <a:r>
              <a:rPr lang="en-IN" dirty="0"/>
              <a:t>Physics Stochastic Simulator: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GLAM Stochastic Simulator (</a:t>
            </a:r>
            <a:r>
              <a:rPr lang="en-IN" dirty="0" err="1"/>
              <a:t>g</a:t>
            </a:r>
            <a:r>
              <a:rPr lang="en-IN" baseline="-25000" dirty="0" err="1"/>
              <a:t>GLAM</a:t>
            </a:r>
            <a:r>
              <a:rPr lang="en-IN" dirty="0"/>
              <a:t>):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33D366-CB36-F2D5-21B1-27FEB3BE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0" y="3330146"/>
            <a:ext cx="4902200" cy="825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AC8D67-DCE4-3439-03B7-6C71585B4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269" y="4837756"/>
            <a:ext cx="5561461" cy="116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52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B9BE1-BD84-4AA5-7173-0C935A2A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EF1124-D106-AF17-9B0B-01B9E541F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E5974-0293-230E-37FE-CBD153A96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2: Complexity vs Stability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16DAD9-4713-3BF9-99A9-B1326134B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simple (Degree 1) model was stable but inaccurate. A complex (</a:t>
            </a:r>
            <a:r>
              <a:rPr lang="en-IN" b="1" dirty="0"/>
              <a:t>Degree 2</a:t>
            </a:r>
            <a:r>
              <a:rPr lang="en-IN" dirty="0"/>
              <a:t>) model captured the physics but required fitting </a:t>
            </a:r>
            <a:r>
              <a:rPr lang="en-IN" b="1" dirty="0"/>
              <a:t>60 coefficients</a:t>
            </a:r>
            <a:r>
              <a:rPr lang="en-IN" dirty="0"/>
              <a:t>, causing the optimizer to fail (diverge) due to numerical instability </a:t>
            </a:r>
          </a:p>
          <a:p>
            <a:r>
              <a:rPr lang="en-IN" b="1" dirty="0"/>
              <a:t>Solution: "Smart" Initialization.</a:t>
            </a:r>
            <a:endParaRPr lang="en-IN" dirty="0"/>
          </a:p>
          <a:p>
            <a:pPr lvl="1"/>
            <a:r>
              <a:rPr lang="en-IN" dirty="0"/>
              <a:t>We developed a routine using the </a:t>
            </a:r>
            <a:r>
              <a:rPr lang="en-IN" b="1" dirty="0"/>
              <a:t>Method of Moments</a:t>
            </a:r>
            <a:r>
              <a:rPr lang="en-IN" dirty="0"/>
              <a:t> to pre-calculate the best "global" distribution.</a:t>
            </a:r>
          </a:p>
          <a:p>
            <a:pPr lvl="1"/>
            <a:r>
              <a:rPr lang="en-IN" dirty="0"/>
              <a:t>Using this as a starting guess stabilized the optimizer, allowing the high-fidelity model to converge successfully.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85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EB34D-EECD-2B1F-1255-06C7DDAD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786E5B-1CAB-4969-E76E-C77D7233D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B201A-1BC5-4214-5929-939F0E61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2: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14AC37-26C1-1D18-57EE-53A5F433D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6187" y="1549080"/>
            <a:ext cx="7439626" cy="17061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BD444A-46D3-5FB6-62CE-AD5DBE34B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748" y="3255203"/>
            <a:ext cx="4104503" cy="334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3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B8EF5-D33A-06C7-7EF0-FB2F908D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EB7C4B-ADBA-8D08-2E5B-CFF8CF649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124F7-91F8-F027-3260-0B7F501B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3: Optimization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41FDD-C58F-32E5-DF4F-691578ED7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441" y="2236573"/>
            <a:ext cx="2271117" cy="935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4DAF1B-CBFB-8CD1-49FE-44502B98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98" y="3395878"/>
            <a:ext cx="9490804" cy="142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16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7BF09-6633-FA67-C45B-C894DB75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BC2E10-2505-9815-C72D-F7F74870B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C9236-FF72-B157-138C-0C109BF4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3: Results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F291E2-F785-D021-CE08-803C17235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394" y="1854372"/>
            <a:ext cx="73152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2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421</Words>
  <Application>Microsoft Macintosh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Aptos</vt:lpstr>
      <vt:lpstr>Aptos Display</vt:lpstr>
      <vt:lpstr>Arial</vt:lpstr>
      <vt:lpstr>CMBX12</vt:lpstr>
      <vt:lpstr>CMMI12</vt:lpstr>
      <vt:lpstr>CMMI8</vt:lpstr>
      <vt:lpstr>CMMIB8</vt:lpstr>
      <vt:lpstr>CMR12</vt:lpstr>
      <vt:lpstr>CMR8</vt:lpstr>
      <vt:lpstr>CMSY10</vt:lpstr>
      <vt:lpstr>Google Sans Text</vt:lpstr>
      <vt:lpstr>NimbusRomNo9L</vt:lpstr>
      <vt:lpstr>Office Theme</vt:lpstr>
      <vt:lpstr>Emulating Stochastic Processes for Efficient RBDO</vt:lpstr>
      <vt:lpstr>RBDO</vt:lpstr>
      <vt:lpstr>The Problem</vt:lpstr>
      <vt:lpstr>Proposal</vt:lpstr>
      <vt:lpstr>Project Workflow</vt:lpstr>
      <vt:lpstr>Phase 1: Emulator Implementation</vt:lpstr>
      <vt:lpstr>Phase 1: Validation (Black-Scholes Model)</vt:lpstr>
      <vt:lpstr>Phase 2: Engineering Application (I-Beam)</vt:lpstr>
      <vt:lpstr>Phase 2: Complexity vs Stability</vt:lpstr>
      <vt:lpstr>Phase 2: Results</vt:lpstr>
      <vt:lpstr>Phase 3: Optimization</vt:lpstr>
      <vt:lpstr>Phase 3: Results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Jain</dc:creator>
  <cp:lastModifiedBy>Naveen Jain</cp:lastModifiedBy>
  <cp:revision>3</cp:revision>
  <dcterms:created xsi:type="dcterms:W3CDTF">2025-11-26T08:06:19Z</dcterms:created>
  <dcterms:modified xsi:type="dcterms:W3CDTF">2025-11-26T13:29:15Z</dcterms:modified>
</cp:coreProperties>
</file>